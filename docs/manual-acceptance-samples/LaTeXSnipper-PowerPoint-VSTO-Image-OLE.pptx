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38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e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emf"/><Relationship Id="rId5" Type="http://schemas.openxmlformats.org/officeDocument/2006/relationships/oleObject" Target="../embeddings/oleObject2.bin"/><Relationship Id="rId10" Type="http://schemas.openxmlformats.org/officeDocument/2006/relationships/image" Target="../media/image10.emf"/><Relationship Id="rId4" Type="http://schemas.openxmlformats.org/officeDocument/2006/relationships/image" Target="../media/image7.emf"/><Relationship Id="rId9" Type="http://schemas.openxmlformats.org/officeDocument/2006/relationships/oleObject" Target="../embeddings/oleObject4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yebrow">
            <a:extLst>
              <a:ext uri="{FF2B5EF4-FFF2-40B4-BE49-F238E27FC236}">
                <a16:creationId xmlns:a16="http://schemas.microsoft.com/office/drawing/2014/main" id="{0F7D0783-5EC8-4BD5-8111-EE58FF7F85A5}"/>
              </a:ext>
            </a:extLst>
          </p:cNvPr>
          <p:cNvSpPr>
            <a:spLocks noGrp="1"/>
          </p:cNvSpPr>
          <p:nvPr/>
        </p:nvSpPr>
        <p:spPr>
          <a:xfrm>
            <a:off x="457200" y="419100"/>
            <a:ext cx="7239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LATEXSNIPPER OFFICE · 人工验收样例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1F047735-E812-455A-83B3-ED1D2BFB672F}"/>
              </a:ext>
            </a:extLst>
          </p:cNvPr>
          <p:cNvSpPr>
            <a:spLocks noGrp="1"/>
          </p:cNvSpPr>
          <p:nvPr/>
        </p:nvSpPr>
        <p:spPr>
          <a:xfrm>
            <a:off x="457200" y="2038350"/>
            <a:ext cx="99060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4350" b="1">
                <a:solidFill>
                  <a:srgbClr val="000000"/>
                </a:solidFill>
              </a:defRPr>
            </a:pPr>
            <a:r>
              <a:rPr sz="4350" b="1">
                <a:solidFill>
                  <a:srgbClr val="000000"/>
                </a:solidFill>
              </a:rPr>
              <a:t>PowerPoint 公式插入效果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B664208B-FFD4-4A0B-9D3D-EC986D6B0671}"/>
              </a:ext>
            </a:extLst>
          </p:cNvPr>
          <p:cNvSpPr>
            <a:spLocks noGrp="1"/>
          </p:cNvSpPr>
          <p:nvPr/>
        </p:nvSpPr>
        <p:spPr>
          <a:xfrm>
            <a:off x="457200" y="3524250"/>
            <a:ext cx="88582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>
                <a:solidFill>
                  <a:srgbClr val="334155"/>
                </a:solidFill>
              </a:defRPr>
            </a:pPr>
            <a:r>
              <a:rPr sz="1950">
                <a:solidFill>
                  <a:srgbClr val="334155"/>
                </a:solidFill>
              </a:rPr>
              <a:t>覆盖箭头、极限、分段函数、积分/求和以及极长、极高公式；每页均保留可人工核对的预期结果。</a:t>
            </a:r>
          </a:p>
        </p:txBody>
      </p:sp>
      <p:sp>
        <p:nvSpPr>
          <p:cNvPr id="4" name="note">
            <a:extLst>
              <a:ext uri="{FF2B5EF4-FFF2-40B4-BE49-F238E27FC236}">
                <a16:creationId xmlns:a16="http://schemas.microsoft.com/office/drawing/2014/main" id="{CF6ADEE0-2BC5-49FF-BDB4-9C26C359AD91}"/>
              </a:ext>
            </a:extLst>
          </p:cNvPr>
          <p:cNvSpPr>
            <a:spLocks noGrp="1"/>
          </p:cNvSpPr>
          <p:nvPr/>
        </p:nvSpPr>
        <p:spPr>
          <a:xfrm>
            <a:off x="457200" y="5676900"/>
            <a:ext cx="10001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64748B"/>
                </a:solidFill>
              </a:defRPr>
            </a:pPr>
            <a:r>
              <a:rPr sz="1350">
                <a:solidFill>
                  <a:srgbClr val="64748B"/>
                </a:solidFill>
              </a:rPr>
              <a:t>预览矩阵由真实 Word OLE 宿主截图生成；后续页面分别由本机 VSTO 路径补入图片与可编辑 OLE。</a:t>
            </a:r>
          </a:p>
        </p:txBody>
      </p:sp>
    </p:spTree>
    <p:extLst>
      <p:ext uri="{BB962C8B-B14F-4D97-AF65-F5344CB8AC3E}">
        <p14:creationId xmlns:p14="http://schemas.microsoft.com/office/powerpoint/2010/main" val="9994072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matrix-title-0">
            <a:extLst>
              <a:ext uri="{FF2B5EF4-FFF2-40B4-BE49-F238E27FC236}">
                <a16:creationId xmlns:a16="http://schemas.microsoft.com/office/drawing/2014/main" id="{3A4ECA73-FF02-408A-8985-80610B3BFF9E}"/>
              </a:ext>
            </a:extLst>
          </p:cNvPr>
          <p:cNvSpPr>
            <a:spLocks noGrp="1"/>
          </p:cNvSpPr>
          <p:nvPr/>
        </p:nvSpPr>
        <p:spPr>
          <a:xfrm>
            <a:off x="457200" y="32385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</a:rPr>
              <a:t>重点结构应无方框、无偏移</a:t>
            </a:r>
          </a:p>
        </p:txBody>
      </p:sp>
      <p:sp>
        <p:nvSpPr>
          <p:cNvPr id="2" name="arrow-panel">
            <a:extLst>
              <a:ext uri="{FF2B5EF4-FFF2-40B4-BE49-F238E27FC236}">
                <a16:creationId xmlns:a16="http://schemas.microsoft.com/office/drawing/2014/main" id="{D6128E2C-B306-4ED2-B5F7-C82ADD57B9D9}"/>
              </a:ext>
            </a:extLst>
          </p:cNvPr>
          <p:cNvSpPr>
            <a:spLocks noGrp="1"/>
          </p:cNvSpPr>
          <p:nvPr/>
        </p:nvSpPr>
        <p:spPr>
          <a:xfrm>
            <a:off x="457200" y="1181100"/>
            <a:ext cx="5391150" cy="2533650"/>
          </a:xfrm>
          <a:prstGeom prst="rect">
            <a:avLst/>
          </a:prstGeom>
          <a:solidFill>
            <a:srgbClr val="F5F7FA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3" name="arrow-title">
            <a:extLst>
              <a:ext uri="{FF2B5EF4-FFF2-40B4-BE49-F238E27FC236}">
                <a16:creationId xmlns:a16="http://schemas.microsoft.com/office/drawing/2014/main" id="{DFABE8B5-BAA1-4795-8EC3-3BC8DE17DB63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4933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上标箭头</a:t>
            </a: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712179" y="1771650"/>
            <a:ext cx="881191" cy="1200150"/>
          </a:xfrm>
          <a:prstGeom prst="rect">
            <a:avLst/>
          </a:prstGeom>
        </p:spPr>
      </p:pic>
      <p:sp>
        <p:nvSpPr>
          <p:cNvPr id="5" name="arrow-expected">
            <a:extLst>
              <a:ext uri="{FF2B5EF4-FFF2-40B4-BE49-F238E27FC236}">
                <a16:creationId xmlns:a16="http://schemas.microsoft.com/office/drawing/2014/main" id="{D2A6583F-A7A7-4DFC-B2B2-4B1E62E2C76E}"/>
              </a:ext>
            </a:extLst>
          </p:cNvPr>
          <p:cNvSpPr>
            <a:spLocks noGrp="1"/>
          </p:cNvSpPr>
          <p:nvPr/>
        </p:nvSpPr>
        <p:spPr>
          <a:xfrm>
            <a:off x="685800" y="3105150"/>
            <a:ext cx="49339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rPr sz="1200">
                <a:solidFill>
                  <a:srgbClr val="475569"/>
                </a:solidFill>
              </a:rPr>
              <a:t>箭头居中覆盖 v；无方框、无水平偏移</a:t>
            </a:r>
          </a:p>
        </p:txBody>
      </p:sp>
      <p:sp>
        <p:nvSpPr>
          <p:cNvPr id="6" name="limit-panel">
            <a:extLst>
              <a:ext uri="{FF2B5EF4-FFF2-40B4-BE49-F238E27FC236}">
                <a16:creationId xmlns:a16="http://schemas.microsoft.com/office/drawing/2014/main" id="{77121A71-FB2F-43AA-AAC3-C494232066F2}"/>
              </a:ext>
            </a:extLst>
          </p:cNvPr>
          <p:cNvSpPr>
            <a:spLocks noGrp="1"/>
          </p:cNvSpPr>
          <p:nvPr/>
        </p:nvSpPr>
        <p:spPr>
          <a:xfrm>
            <a:off x="6343650" y="1181100"/>
            <a:ext cx="5391150" cy="2533650"/>
          </a:xfrm>
          <a:prstGeom prst="rect">
            <a:avLst/>
          </a:prstGeom>
          <a:solidFill>
            <a:srgbClr val="F5F7FA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7" name="limit-title">
            <a:extLst>
              <a:ext uri="{FF2B5EF4-FFF2-40B4-BE49-F238E27FC236}">
                <a16:creationId xmlns:a16="http://schemas.microsoft.com/office/drawing/2014/main" id="{36AA2B98-E1C7-4554-9104-3418869033CF}"/>
              </a:ext>
            </a:extLst>
          </p:cNvPr>
          <p:cNvSpPr>
            <a:spLocks noGrp="1"/>
          </p:cNvSpPr>
          <p:nvPr/>
        </p:nvSpPr>
        <p:spPr>
          <a:xfrm>
            <a:off x="6572250" y="1352550"/>
            <a:ext cx="4933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极限与函数</a:t>
            </a: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205337" y="1771650"/>
            <a:ext cx="1667776" cy="1200150"/>
          </a:xfrm>
          <a:prstGeom prst="rect">
            <a:avLst/>
          </a:prstGeom>
        </p:spPr>
      </p:pic>
      <p:sp>
        <p:nvSpPr>
          <p:cNvPr id="9" name="limit-expected">
            <a:extLst>
              <a:ext uri="{FF2B5EF4-FFF2-40B4-BE49-F238E27FC236}">
                <a16:creationId xmlns:a16="http://schemas.microsoft.com/office/drawing/2014/main" id="{5AEC4EC8-49DA-460B-A965-403F129B5A04}"/>
              </a:ext>
            </a:extLst>
          </p:cNvPr>
          <p:cNvSpPr>
            <a:spLocks noGrp="1"/>
          </p:cNvSpPr>
          <p:nvPr/>
        </p:nvSpPr>
        <p:spPr>
          <a:xfrm>
            <a:off x="6572250" y="3105150"/>
            <a:ext cx="49339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rPr sz="1200">
                <a:solidFill>
                  <a:srgbClr val="475569"/>
                </a:solidFill>
              </a:rPr>
              <a:t>x→1 位于 lim 下方；sin 与 x 之间无方框</a:t>
            </a:r>
          </a:p>
        </p:txBody>
      </p:sp>
      <p:sp>
        <p:nvSpPr>
          <p:cNvPr id="10" name="cases-panel">
            <a:extLst>
              <a:ext uri="{FF2B5EF4-FFF2-40B4-BE49-F238E27FC236}">
                <a16:creationId xmlns:a16="http://schemas.microsoft.com/office/drawing/2014/main" id="{EA65CC5E-D5C8-4482-A608-D6F1854804C6}"/>
              </a:ext>
            </a:extLst>
          </p:cNvPr>
          <p:cNvSpPr>
            <a:spLocks noGrp="1"/>
          </p:cNvSpPr>
          <p:nvPr/>
        </p:nvSpPr>
        <p:spPr>
          <a:xfrm>
            <a:off x="457200" y="3943350"/>
            <a:ext cx="5391150" cy="2533650"/>
          </a:xfrm>
          <a:prstGeom prst="rect">
            <a:avLst/>
          </a:prstGeom>
          <a:solidFill>
            <a:srgbClr val="F5F7FA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11" name="cases-title">
            <a:extLst>
              <a:ext uri="{FF2B5EF4-FFF2-40B4-BE49-F238E27FC236}">
                <a16:creationId xmlns:a16="http://schemas.microsoft.com/office/drawing/2014/main" id="{9B5A9DA1-989F-4C29-9B0F-7DFFF4505D1B}"/>
              </a:ext>
            </a:extLst>
          </p:cNvPr>
          <p:cNvSpPr>
            <a:spLocks noGrp="1"/>
          </p:cNvSpPr>
          <p:nvPr/>
        </p:nvSpPr>
        <p:spPr>
          <a:xfrm>
            <a:off x="685800" y="4114800"/>
            <a:ext cx="4933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分段函数</a:t>
            </a:r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594472" y="4533900"/>
            <a:ext cx="3116606" cy="1200150"/>
          </a:xfrm>
          <a:prstGeom prst="rect">
            <a:avLst/>
          </a:prstGeom>
        </p:spPr>
      </p:pic>
      <p:sp>
        <p:nvSpPr>
          <p:cNvPr id="13" name="cases-expected">
            <a:extLst>
              <a:ext uri="{FF2B5EF4-FFF2-40B4-BE49-F238E27FC236}">
                <a16:creationId xmlns:a16="http://schemas.microsoft.com/office/drawing/2014/main" id="{ACEDDE6B-514A-4BDE-8FD6-5D76C8D655E9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49339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rPr sz="1200">
                <a:solidFill>
                  <a:srgbClr val="475569"/>
                </a:solidFill>
              </a:rPr>
              <a:t>左大括号完整；两行中间无缺字符方框</a:t>
            </a:r>
          </a:p>
        </p:txBody>
      </p:sp>
      <p:sp>
        <p:nvSpPr>
          <p:cNvPr id="14" name="nary-panel">
            <a:extLst>
              <a:ext uri="{FF2B5EF4-FFF2-40B4-BE49-F238E27FC236}">
                <a16:creationId xmlns:a16="http://schemas.microsoft.com/office/drawing/2014/main" id="{D196EB73-B526-4A71-8B53-90CC53CD9155}"/>
              </a:ext>
            </a:extLst>
          </p:cNvPr>
          <p:cNvSpPr>
            <a:spLocks noGrp="1"/>
          </p:cNvSpPr>
          <p:nvPr/>
        </p:nvSpPr>
        <p:spPr>
          <a:xfrm>
            <a:off x="6343650" y="3943350"/>
            <a:ext cx="5391150" cy="2533650"/>
          </a:xfrm>
          <a:prstGeom prst="rect">
            <a:avLst/>
          </a:prstGeom>
          <a:solidFill>
            <a:srgbClr val="F5F7FA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15" name="nary-title">
            <a:extLst>
              <a:ext uri="{FF2B5EF4-FFF2-40B4-BE49-F238E27FC236}">
                <a16:creationId xmlns:a16="http://schemas.microsoft.com/office/drawing/2014/main" id="{743BFAC6-EF81-4873-AD6E-14EA149CD55C}"/>
              </a:ext>
            </a:extLst>
          </p:cNvPr>
          <p:cNvSpPr>
            <a:spLocks noGrp="1"/>
          </p:cNvSpPr>
          <p:nvPr/>
        </p:nvSpPr>
        <p:spPr>
          <a:xfrm>
            <a:off x="6572250" y="4114800"/>
            <a:ext cx="4933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积分与求和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7649862" y="4533900"/>
            <a:ext cx="2778726" cy="1200150"/>
          </a:xfrm>
          <a:prstGeom prst="rect">
            <a:avLst/>
          </a:prstGeom>
        </p:spPr>
      </p:pic>
      <p:sp>
        <p:nvSpPr>
          <p:cNvPr id="17" name="nary-expected">
            <a:extLst>
              <a:ext uri="{FF2B5EF4-FFF2-40B4-BE49-F238E27FC236}">
                <a16:creationId xmlns:a16="http://schemas.microsoft.com/office/drawing/2014/main" id="{63AAADFF-710F-4794-A760-3FB4AB7BF52C}"/>
              </a:ext>
            </a:extLst>
          </p:cNvPr>
          <p:cNvSpPr>
            <a:spLocks noGrp="1"/>
          </p:cNvSpPr>
          <p:nvPr/>
        </p:nvSpPr>
        <p:spPr>
          <a:xfrm>
            <a:off x="6572250" y="5867400"/>
            <a:ext cx="49339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rPr sz="1200">
                <a:solidFill>
                  <a:srgbClr val="475569"/>
                </a:solidFill>
              </a:rPr>
              <a:t>积分/求和上下限保留，主体与运算符不重叠</a:t>
            </a:r>
          </a:p>
        </p:txBody>
      </p:sp>
    </p:spTree>
    <p:extLst>
      <p:ext uri="{BB962C8B-B14F-4D97-AF65-F5344CB8AC3E}">
        <p14:creationId xmlns:p14="http://schemas.microsoft.com/office/powerpoint/2010/main" val="1929708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trix-title-1">
            <a:extLst>
              <a:ext uri="{FF2B5EF4-FFF2-40B4-BE49-F238E27FC236}">
                <a16:creationId xmlns:a16="http://schemas.microsoft.com/office/drawing/2014/main" id="{09CBDBCB-8A1C-4974-8A77-6614E2FCA30D}"/>
              </a:ext>
            </a:extLst>
          </p:cNvPr>
          <p:cNvSpPr>
            <a:spLocks noGrp="1"/>
          </p:cNvSpPr>
          <p:nvPr/>
        </p:nvSpPr>
        <p:spPr>
          <a:xfrm>
            <a:off x="457200" y="32385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</a:rPr>
              <a:t>极端尺寸应完整且等比缩放</a:t>
            </a:r>
          </a:p>
        </p:txBody>
      </p:sp>
      <p:sp>
        <p:nvSpPr>
          <p:cNvPr id="2" name="wide-panel">
            <a:extLst>
              <a:ext uri="{FF2B5EF4-FFF2-40B4-BE49-F238E27FC236}">
                <a16:creationId xmlns:a16="http://schemas.microsoft.com/office/drawing/2014/main" id="{92536BC4-D486-4D3B-8134-B7533AE1B4FE}"/>
              </a:ext>
            </a:extLst>
          </p:cNvPr>
          <p:cNvSpPr>
            <a:spLocks noGrp="1"/>
          </p:cNvSpPr>
          <p:nvPr/>
        </p:nvSpPr>
        <p:spPr>
          <a:xfrm>
            <a:off x="457200" y="1428750"/>
            <a:ext cx="5391150" cy="3714750"/>
          </a:xfrm>
          <a:prstGeom prst="rect">
            <a:avLst/>
          </a:prstGeom>
          <a:solidFill>
            <a:srgbClr val="F5F7FA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3" name="wide-title">
            <a:extLst>
              <a:ext uri="{FF2B5EF4-FFF2-40B4-BE49-F238E27FC236}">
                <a16:creationId xmlns:a16="http://schemas.microsoft.com/office/drawing/2014/main" id="{5C8249F5-91E2-4978-8B1C-7B0C1782389B}"/>
              </a:ext>
            </a:extLst>
          </p:cNvPr>
          <p:cNvSpPr>
            <a:spLocks noGrp="1"/>
          </p:cNvSpPr>
          <p:nvPr/>
        </p:nvSpPr>
        <p:spPr>
          <a:xfrm>
            <a:off x="685800" y="1600200"/>
            <a:ext cx="4933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极长公式</a:t>
            </a: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2455836"/>
            <a:ext cx="4933950" cy="327079"/>
          </a:xfrm>
          <a:prstGeom prst="rect">
            <a:avLst/>
          </a:prstGeom>
        </p:spPr>
      </p:pic>
      <p:sp>
        <p:nvSpPr>
          <p:cNvPr id="5" name="wide-expected">
            <a:extLst>
              <a:ext uri="{FF2B5EF4-FFF2-40B4-BE49-F238E27FC236}">
                <a16:creationId xmlns:a16="http://schemas.microsoft.com/office/drawing/2014/main" id="{F8CF5036-20F9-464C-B487-3AEEC8A2DBE7}"/>
              </a:ext>
            </a:extLst>
          </p:cNvPr>
          <p:cNvSpPr>
            <a:spLocks noGrp="1"/>
          </p:cNvSpPr>
          <p:nvPr/>
        </p:nvSpPr>
        <p:spPr>
          <a:xfrm>
            <a:off x="685800" y="3352800"/>
            <a:ext cx="49339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rPr sz="1200">
                <a:solidFill>
                  <a:srgbClr val="475569"/>
                </a:solidFill>
              </a:rPr>
              <a:t>整体等比缩放，不裁切左右内容</a:t>
            </a:r>
          </a:p>
        </p:txBody>
      </p:sp>
      <p:sp>
        <p:nvSpPr>
          <p:cNvPr id="6" name="tall-panel">
            <a:extLst>
              <a:ext uri="{FF2B5EF4-FFF2-40B4-BE49-F238E27FC236}">
                <a16:creationId xmlns:a16="http://schemas.microsoft.com/office/drawing/2014/main" id="{449C19B2-5EEA-41F4-9870-A76508CC66B6}"/>
              </a:ext>
            </a:extLst>
          </p:cNvPr>
          <p:cNvSpPr>
            <a:spLocks noGrp="1"/>
          </p:cNvSpPr>
          <p:nvPr/>
        </p:nvSpPr>
        <p:spPr>
          <a:xfrm>
            <a:off x="6343650" y="1428750"/>
            <a:ext cx="5391150" cy="3714750"/>
          </a:xfrm>
          <a:prstGeom prst="rect">
            <a:avLst/>
          </a:prstGeom>
          <a:solidFill>
            <a:srgbClr val="F5F7FA"/>
          </a:solidFill>
          <a:ln w="9525">
            <a:solidFill>
              <a:srgbClr val="D8DEE8"/>
            </a:solidFill>
            <a:prstDash val="solid"/>
          </a:ln>
        </p:spPr>
      </p:sp>
      <p:sp>
        <p:nvSpPr>
          <p:cNvPr id="7" name="tall-title">
            <a:extLst>
              <a:ext uri="{FF2B5EF4-FFF2-40B4-BE49-F238E27FC236}">
                <a16:creationId xmlns:a16="http://schemas.microsoft.com/office/drawing/2014/main" id="{220D63B2-74CA-40C8-BEF6-BD3621FD5BC1}"/>
              </a:ext>
            </a:extLst>
          </p:cNvPr>
          <p:cNvSpPr>
            <a:spLocks noGrp="1"/>
          </p:cNvSpPr>
          <p:nvPr/>
        </p:nvSpPr>
        <p:spPr>
          <a:xfrm>
            <a:off x="6572250" y="1600200"/>
            <a:ext cx="4933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极高公式</a:t>
            </a: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931234" y="2019300"/>
            <a:ext cx="2215981" cy="1200150"/>
          </a:xfrm>
          <a:prstGeom prst="rect">
            <a:avLst/>
          </a:prstGeom>
        </p:spPr>
      </p:pic>
      <p:sp>
        <p:nvSpPr>
          <p:cNvPr id="9" name="tall-expected">
            <a:extLst>
              <a:ext uri="{FF2B5EF4-FFF2-40B4-BE49-F238E27FC236}">
                <a16:creationId xmlns:a16="http://schemas.microsoft.com/office/drawing/2014/main" id="{4AD17786-199D-4A80-A04C-E3918D898536}"/>
              </a:ext>
            </a:extLst>
          </p:cNvPr>
          <p:cNvSpPr>
            <a:spLocks noGrp="1"/>
          </p:cNvSpPr>
          <p:nvPr/>
        </p:nvSpPr>
        <p:spPr>
          <a:xfrm>
            <a:off x="6572250" y="3352800"/>
            <a:ext cx="49339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rPr sz="1200">
                <a:solidFill>
                  <a:srgbClr val="475569"/>
                </a:solidFill>
              </a:rPr>
              <a:t>整体等比缩放，不裁切顶部和底部</a:t>
            </a:r>
          </a:p>
        </p:txBody>
      </p:sp>
    </p:spTree>
    <p:extLst>
      <p:ext uri="{BB962C8B-B14F-4D97-AF65-F5344CB8AC3E}">
        <p14:creationId xmlns:p14="http://schemas.microsoft.com/office/powerpoint/2010/main" val="2218520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le-title">
            <a:extLst>
              <a:ext uri="{FF2B5EF4-FFF2-40B4-BE49-F238E27FC236}">
                <a16:creationId xmlns:a16="http://schemas.microsoft.com/office/drawing/2014/main" id="{62DD8B5C-EE88-4367-8375-10D4BBA816C9}"/>
              </a:ext>
            </a:extLst>
          </p:cNvPr>
          <p:cNvSpPr>
            <a:spLocks noGrp="1"/>
          </p:cNvSpPr>
          <p:nvPr/>
        </p:nvSpPr>
        <p:spPr>
          <a:xfrm>
            <a:off x="457200" y="400050"/>
            <a:ext cx="8572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实际 PowerPoint 图片对象验证区</a:t>
            </a:r>
          </a:p>
        </p:txBody>
      </p:sp>
      <p:sp>
        <p:nvSpPr>
          <p:cNvPr id="2" name="ole-instructions">
            <a:extLst>
              <a:ext uri="{FF2B5EF4-FFF2-40B4-BE49-F238E27FC236}">
                <a16:creationId xmlns:a16="http://schemas.microsoft.com/office/drawing/2014/main" id="{CAD1864E-64D0-4C17-ADFB-171658C5B8CC}"/>
              </a:ext>
            </a:extLst>
          </p:cNvPr>
          <p:cNvSpPr>
            <a:spLocks noGrp="1"/>
          </p:cNvSpPr>
          <p:nvPr/>
        </p:nvSpPr>
        <p:spPr>
          <a:xfrm>
            <a:off x="457200" y="1104900"/>
            <a:ext cx="10668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334155"/>
                </a:solidFill>
              </a:defRPr>
            </a:pPr>
            <a:r>
              <a:rPr sz="1650">
                <a:solidFill>
                  <a:srgbClr val="334155"/>
                </a:solidFill>
              </a:rPr>
              <a:t>下面区域由 LaTeXSnipper PowerPoint 适配器实际插入图片公式。对象应保持比例、名称以 LSNO_ 开头，并携带可回读的公式元数据。</a:t>
            </a:r>
          </a:p>
        </p:txBody>
      </p:sp>
      <p:sp>
        <p:nvSpPr>
          <p:cNvPr id="3" name="ole-target">
            <a:extLst>
              <a:ext uri="{FF2B5EF4-FFF2-40B4-BE49-F238E27FC236}">
                <a16:creationId xmlns:a16="http://schemas.microsoft.com/office/drawing/2014/main" id="{EABFC2D5-E7D2-459A-AE87-BBC3D6A81CFB}"/>
              </a:ext>
            </a:extLst>
          </p:cNvPr>
          <p:cNvSpPr>
            <a:spLocks noGrp="1"/>
          </p:cNvSpPr>
          <p:nvPr/>
        </p:nvSpPr>
        <p:spPr>
          <a:xfrm>
            <a:off x="457200" y="2095500"/>
            <a:ext cx="11277600" cy="3714750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4" name="ole-target-label">
            <a:extLst>
              <a:ext uri="{FF2B5EF4-FFF2-40B4-BE49-F238E27FC236}">
                <a16:creationId xmlns:a16="http://schemas.microsoft.com/office/drawing/2014/main" id="{04239D32-DFEE-4BC6-BA33-2C8D15858DF3}"/>
              </a:ext>
            </a:extLst>
          </p:cNvPr>
          <p:cNvSpPr>
            <a:spLocks noGrp="1"/>
          </p:cNvSpPr>
          <p:nvPr/>
        </p:nvSpPr>
        <p:spPr>
          <a:xfrm>
            <a:off x="723900" y="2305050"/>
            <a:ext cx="476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64748B"/>
                </a:solidFill>
              </a:defRPr>
            </a:pPr>
            <a:r>
              <a:rPr sz="1350" b="1">
                <a:solidFill>
                  <a:srgbClr val="64748B"/>
                </a:solidFill>
              </a:rPr>
              <a:t>PowerPoint 图片插入目标区</a:t>
            </a:r>
          </a:p>
        </p:txBody>
      </p:sp>
      <p:pic>
        <p:nvPicPr>
          <p:cNvPr id="7" name="LSNO_2f43d44479604f0fb1f5968b41a7ebb9" descr="{&quot;kind&quot;:&quot;latexsnipper.formula&quot;,&quot;schemaVersion&quot;:3,&quot;formulaId&quot;:&quot;2f43d44479604f0fb1f5968b41a7ebb9&quot;,&quot;latex&quot;:&quot;x^{\\vec v}&quot;,&quot;storageMode&quot;:&quot;image&quot;}">
            <a:extLst>
              <a:ext uri="{FF2B5EF4-FFF2-40B4-BE49-F238E27FC236}">
                <a16:creationId xmlns:a16="http://schemas.microsoft.com/office/drawing/2014/main" id="{C415D408-8357-2991-2DB0-900FA9F614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000" y="2540000"/>
            <a:ext cx="1270000" cy="762000"/>
          </a:xfrm>
          <a:prstGeom prst="rect">
            <a:avLst/>
          </a:prstGeom>
        </p:spPr>
      </p:pic>
      <p:pic>
        <p:nvPicPr>
          <p:cNvPr id="9" name="LSNO_a5265e8d5281423a8b546942741f3557" descr="{&quot;kind&quot;:&quot;latexsnipper.formula&quot;,&quot;schemaVersion&quot;:3,&quot;formulaId&quot;:&quot;a5265e8d5281423a8b546942741f3557&quot;,&quot;latex&quot;:&quot;\\lim_{x\\to1}\\frac{\\sin x}{x}&quot;,&quot;storageMode&quot;:&quot;image&quot;}">
            <a:extLst>
              <a:ext uri="{FF2B5EF4-FFF2-40B4-BE49-F238E27FC236}">
                <a16:creationId xmlns:a16="http://schemas.microsoft.com/office/drawing/2014/main" id="{5D411A04-48D8-57E1-7BDD-D19537A4C7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00" y="2540000"/>
            <a:ext cx="2286000" cy="1016000"/>
          </a:xfrm>
          <a:prstGeom prst="rect">
            <a:avLst/>
          </a:prstGeom>
        </p:spPr>
      </p:pic>
      <p:pic>
        <p:nvPicPr>
          <p:cNvPr id="11" name="LSNO_2891fc8486864c72814fe39a6152ea47" descr="{&quot;kind&quot;:&quot;latexsnipper.formula&quot;,&quot;schemaVersion&quot;:3,&quot;formulaId&quot;:&quot;2891fc8486864c72814fe39a6152ea47&quot;,&quot;latex&quot;:&quot;f(x)=\\begin{cases}x^2\u0026x\\geq0\\\\-x\u0026x\u003C0\\end{cases}&quot;,&quot;storageMode&quot;:&quot;image&quot;}">
            <a:extLst>
              <a:ext uri="{FF2B5EF4-FFF2-40B4-BE49-F238E27FC236}">
                <a16:creationId xmlns:a16="http://schemas.microsoft.com/office/drawing/2014/main" id="{775A751E-F9B9-4057-1E58-03F9C6EEAF2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000" y="4445000"/>
            <a:ext cx="3175000" cy="1206500"/>
          </a:xfrm>
          <a:prstGeom prst="rect">
            <a:avLst/>
          </a:prstGeom>
        </p:spPr>
      </p:pic>
      <p:pic>
        <p:nvPicPr>
          <p:cNvPr id="13" name="LSNO_a929ce76d4984e7faef66211037bcc2a" descr="{&quot;kind&quot;:&quot;latexsnipper.formula&quot;,&quot;schemaVersion&quot;:3,&quot;formulaId&quot;:&quot;a929ce76d4984e7faef66211037bcc2a&quot;,&quot;latex&quot;:&quot;\\int_0^\\infty e^{-x}\\,dx=\\sum_{n=1}^{\\infty}\\frac1{2^n}&quot;,&quot;storageMode&quot;:&quot;image&quot;}">
            <a:extLst>
              <a:ext uri="{FF2B5EF4-FFF2-40B4-BE49-F238E27FC236}">
                <a16:creationId xmlns:a16="http://schemas.microsoft.com/office/drawing/2014/main" id="{9AB9B6C7-7F5E-4C39-3EB6-40671C20984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00" y="4445000"/>
            <a:ext cx="3810000" cy="120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90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mbedded-title">
            <a:extLst>
              <a:ext uri="{FF2B5EF4-FFF2-40B4-BE49-F238E27FC236}">
                <a16:creationId xmlns:a16="http://schemas.microsoft.com/office/drawing/2014/main" id="{7C9B93FA-8D54-44E9-B566-E94566825647}"/>
              </a:ext>
            </a:extLst>
          </p:cNvPr>
          <p:cNvSpPr>
            <a:spLocks noGrp="1"/>
          </p:cNvSpPr>
          <p:nvPr/>
        </p:nvSpPr>
        <p:spPr>
          <a:xfrm>
            <a:off x="457200" y="400050"/>
            <a:ext cx="8572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实际 PowerPoint OLE 对象验证区</a:t>
            </a:r>
          </a:p>
        </p:txBody>
      </p:sp>
      <p:sp>
        <p:nvSpPr>
          <p:cNvPr id="2" name="embedded-instructions">
            <a:extLst>
              <a:ext uri="{FF2B5EF4-FFF2-40B4-BE49-F238E27FC236}">
                <a16:creationId xmlns:a16="http://schemas.microsoft.com/office/drawing/2014/main" id="{410FA561-C8CA-4945-8B3B-097653397F04}"/>
              </a:ext>
            </a:extLst>
          </p:cNvPr>
          <p:cNvSpPr>
            <a:spLocks noGrp="1"/>
          </p:cNvSpPr>
          <p:nvPr/>
        </p:nvSpPr>
        <p:spPr>
          <a:xfrm>
            <a:off x="457200" y="1104900"/>
            <a:ext cx="10668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334155"/>
                </a:solidFill>
              </a:defRPr>
            </a:pPr>
            <a:r>
              <a:rPr sz="1650">
                <a:solidFill>
                  <a:srgbClr val="334155"/>
                </a:solidFill>
              </a:rPr>
              <a:t>下面区域插入真实、可编辑的 LaTeXSnipper OLE 复合存储。双击应可激活；对象名称应以 LSNO_ 开头。PowerPoint 不提供原生 OMML 对象模型。</a:t>
            </a:r>
          </a:p>
        </p:txBody>
      </p:sp>
      <p:sp>
        <p:nvSpPr>
          <p:cNvPr id="3" name="embedded-target">
            <a:extLst>
              <a:ext uri="{FF2B5EF4-FFF2-40B4-BE49-F238E27FC236}">
                <a16:creationId xmlns:a16="http://schemas.microsoft.com/office/drawing/2014/main" id="{00C59FAF-D376-49C9-B9F8-54E8E4B87957}"/>
              </a:ext>
            </a:extLst>
          </p:cNvPr>
          <p:cNvSpPr>
            <a:spLocks noGrp="1"/>
          </p:cNvSpPr>
          <p:nvPr/>
        </p:nvSpPr>
        <p:spPr>
          <a:xfrm>
            <a:off x="457200" y="2095500"/>
            <a:ext cx="11277600" cy="3714750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4" name="embedded-target-label">
            <a:extLst>
              <a:ext uri="{FF2B5EF4-FFF2-40B4-BE49-F238E27FC236}">
                <a16:creationId xmlns:a16="http://schemas.microsoft.com/office/drawing/2014/main" id="{BF6F08BF-3BC4-4C99-829B-F9043B3B0288}"/>
              </a:ext>
            </a:extLst>
          </p:cNvPr>
          <p:cNvSpPr>
            <a:spLocks noGrp="1"/>
          </p:cNvSpPr>
          <p:nvPr/>
        </p:nvSpPr>
        <p:spPr>
          <a:xfrm>
            <a:off x="723900" y="2305050"/>
            <a:ext cx="476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64748B"/>
                </a:solidFill>
              </a:defRPr>
            </a:pPr>
            <a:r>
              <a:rPr sz="1350" b="1">
                <a:solidFill>
                  <a:srgbClr val="64748B"/>
                </a:solidFill>
              </a:rPr>
              <a:t>PowerPoint OLE 插入目标区</a:t>
            </a:r>
          </a:p>
        </p:txBody>
      </p:sp>
      <p:graphicFrame>
        <p:nvGraphicFramePr>
          <p:cNvPr id="6" name="LSNO_PERSISTED_0">
            <a:extLst>
              <a:ext uri="{FF2B5EF4-FFF2-40B4-BE49-F238E27FC236}">
                <a16:creationId xmlns:a16="http://schemas.microsoft.com/office/drawing/2014/main" id="{31A4FD13-AF8A-3E4C-53AF-798DA482E17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0227757"/>
              </p:ext>
            </p:extLst>
          </p:nvPr>
        </p:nvGraphicFramePr>
        <p:xfrm>
          <a:off x="1270000" y="2540000"/>
          <a:ext cx="276225" cy="27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75446" imgH="276479" progId="Word.Document.12">
                  <p:embed/>
                </p:oleObj>
              </mc:Choice>
              <mc:Fallback>
                <p:oleObj r:id="rId3" imgW="275446" imgH="27647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70000" y="2540000"/>
                        <a:ext cx="276225" cy="276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LSNO_PERSISTED_1">
            <a:extLst>
              <a:ext uri="{FF2B5EF4-FFF2-40B4-BE49-F238E27FC236}">
                <a16:creationId xmlns:a16="http://schemas.microsoft.com/office/drawing/2014/main" id="{95683603-E464-0BE0-1DBF-2AA9191AFBF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3239672"/>
              </p:ext>
            </p:extLst>
          </p:nvPr>
        </p:nvGraphicFramePr>
        <p:xfrm>
          <a:off x="6985000" y="2540000"/>
          <a:ext cx="503237" cy="27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503487" imgH="276479" progId="Word.Document.12">
                  <p:embed/>
                </p:oleObj>
              </mc:Choice>
              <mc:Fallback>
                <p:oleObj r:id="rId5" imgW="503487" imgH="27647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985000" y="2540000"/>
                        <a:ext cx="503237" cy="276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LSNO_PERSISTED_2">
            <a:extLst>
              <a:ext uri="{FF2B5EF4-FFF2-40B4-BE49-F238E27FC236}">
                <a16:creationId xmlns:a16="http://schemas.microsoft.com/office/drawing/2014/main" id="{9E681500-C855-E209-B036-7FA71ED7431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6575917"/>
              </p:ext>
            </p:extLst>
          </p:nvPr>
        </p:nvGraphicFramePr>
        <p:xfrm>
          <a:off x="1270000" y="4445000"/>
          <a:ext cx="893763" cy="27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893133" imgH="276479" progId="Word.Document.12">
                  <p:embed/>
                </p:oleObj>
              </mc:Choice>
              <mc:Fallback>
                <p:oleObj r:id="rId7" imgW="893133" imgH="27647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270000" y="4445000"/>
                        <a:ext cx="893763" cy="276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LSNO_PERSISTED_3">
            <a:extLst>
              <a:ext uri="{FF2B5EF4-FFF2-40B4-BE49-F238E27FC236}">
                <a16:creationId xmlns:a16="http://schemas.microsoft.com/office/drawing/2014/main" id="{8213CEAF-055F-E6FA-5BED-317EFC9AEE1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2841205"/>
              </p:ext>
            </p:extLst>
          </p:nvPr>
        </p:nvGraphicFramePr>
        <p:xfrm>
          <a:off x="6985000" y="4445000"/>
          <a:ext cx="808037" cy="27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807663" imgH="276479" progId="Word.Document.12">
                  <p:embed/>
                </p:oleObj>
              </mc:Choice>
              <mc:Fallback>
                <p:oleObj r:id="rId9" imgW="807663" imgH="27647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985000" y="4445000"/>
                        <a:ext cx="808037" cy="276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9323073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116</Words>
  <Application>Microsoft Office PowerPoint</Application>
  <DocSecurity>0</DocSecurity>
  <PresentationFormat>宽屏</PresentationFormat>
  <Paragraphs>24</Paragraphs>
  <Slides>5</Slides>
  <Notes>5</Notes>
  <HiddenSlides>0</HiddenSlides>
  <MMClips>0</MMClips>
  <ScaleCrop>false</ScaleCrop>
  <HeadingPairs>
    <vt:vector size="8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8" baseType="lpstr">
      <vt:lpstr>Calibri</vt:lpstr>
      <vt:lpstr>ChatGPT</vt:lpstr>
      <vt:lpstr>Microsoft Word Document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lion strange</cp:lastModifiedBy>
  <cp:revision>2</cp:revision>
  <dcterms:created xsi:type="dcterms:W3CDTF">2026-07-31T07:59:11Z</dcterms:created>
  <dcterms:modified xsi:type="dcterms:W3CDTF">2026-07-31T07:59:36Z</dcterms:modified>
</cp:coreProperties>
</file>